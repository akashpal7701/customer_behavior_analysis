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ora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171258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SHOPPING BEHAVIOR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512491"/>
            <a:ext cx="814684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10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What 3,900 purchases reveal about shopping behavior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3801666"/>
            <a:ext cx="814684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concise case study in customer signals, commercial patterns, and practical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THE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analysis connects customer signals to business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19498"/>
            <a:ext cx="3555911" cy="3468191"/>
          </a:xfrm>
          <a:prstGeom prst="roundRect">
            <a:avLst>
              <a:gd name="adj" fmla="val 934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2273498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578" y="2840871"/>
            <a:ext cx="30479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Dataset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578" y="3299142"/>
            <a:ext cx="304792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3,900 purchases across 18 columns, four categories, 50 locations, and 25 products.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470288" y="2026166"/>
            <a:ext cx="711182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Workflow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288" y="2586534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0288" y="3153906"/>
            <a:ext cx="226897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Prepare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70288" y="3612178"/>
            <a:ext cx="2268977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Clean in Python. Missing Review Rating values noted as 37 and imputed using the category-median method.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661" y="2586534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91661" y="3153906"/>
            <a:ext cx="226897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Analyze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891661" y="3612178"/>
            <a:ext cx="2268977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Analyze in PostgreSQL to connect customer, product, service, and purchase signals.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034" y="2586534"/>
            <a:ext cx="431789" cy="431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13034" y="3153906"/>
            <a:ext cx="22690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Decide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9313034" y="3612178"/>
            <a:ext cx="2269076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Visualize in Power BI, then translate the findings into campaigns, offers, and tests.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1811994" y="6451898"/>
            <a:ext cx="37970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COMMERCIAL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650223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Clothing is the commercial center of gravity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650223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Clothing leads both revenue and sales, with Accessories a clear second tier.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953345"/>
            <a:ext cx="6502237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and sales by category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465711"/>
            <a:ext cx="6502237" cy="21860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9722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4876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CUSTOMER COHORTS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4267093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Young adults are the strongest revenue cohort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4267093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Young Adults contribute the most revenue, with the other cohorts relatively close behind.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773190"/>
            <a:ext cx="4267093" cy="2071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Revenue contribution:</a:t>
            </a:r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Young Adult $62,143; Middle-aged $59,197; Adult $55,978; Senior $55,763.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age spread is meaningful enough to support targeted campaigns rather than one broad message.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609600"/>
            <a:ext cx="5486263" cy="838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667000"/>
            <a:ext cx="5486263" cy="32917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07629" y="6451898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3150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LOYALTY AND MEMBERSHIP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670543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business has a loyalty base, but subscriptions lag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670543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loyalty base is strong. The subscription relationship is still underdeveloped.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949773"/>
            <a:ext cx="2133547" cy="1556841"/>
          </a:xfrm>
          <a:prstGeom prst="roundRect">
            <a:avLst>
              <a:gd name="adj" fmla="val 2080"/>
            </a:avLst>
          </a:prstGeom>
          <a:solidFill>
            <a:srgbClr val="E7EA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38179" y="3199320"/>
            <a:ext cx="167635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3,116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38179" y="3852962"/>
            <a:ext cx="19049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Loyal customers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95528" y="2949773"/>
            <a:ext cx="2133547" cy="1556841"/>
          </a:xfrm>
          <a:prstGeom prst="roundRect">
            <a:avLst>
              <a:gd name="adj" fmla="val 2080"/>
            </a:avLst>
          </a:prstGeom>
          <a:solidFill>
            <a:srgbClr val="E7EAF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24122" y="3199320"/>
            <a:ext cx="167635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1,053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24122" y="3852962"/>
            <a:ext cx="19049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Subscribers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81470" y="2949773"/>
            <a:ext cx="2133547" cy="1556841"/>
          </a:xfrm>
          <a:prstGeom prst="roundRect">
            <a:avLst>
              <a:gd name="adj" fmla="val 2080"/>
            </a:avLst>
          </a:prstGeom>
          <a:solidFill>
            <a:srgbClr val="E7EAF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10065" y="3199320"/>
            <a:ext cx="167635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2,518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10065" y="3852962"/>
            <a:ext cx="167635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Repeat buyers who are non-subscribers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9585" y="4703862"/>
            <a:ext cx="670543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segments: 3,116 Loyal, 701 Returning, and 83 New. Subscription split: 1,053 subscribers versus 2,847 non-subscribers.</a:t>
            </a:r>
            <a:endParaRPr lang="en-US" sz="1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9722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MEMBERSHIP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Subscription status is not yet lifting average spend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Subscribers and non-subscribers spend almost the same per purchase. The opportunity is to make membership benefits feel valuable, not simply available.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94657"/>
            <a:ext cx="10413739" cy="298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568454"/>
            <a:ext cx="10972526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Non-subscribers drive more total revenue because they are the much larger group, while average spend is nearly identical.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PROMOTION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Discounts can drive volume without guaranteeing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10972526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High-spending discount users:</a:t>
            </a:r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839 customers spent above the $59.76 average purchase amount while using discounts.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Most discount-dependent products:</a:t>
            </a:r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Hat 50.00%, Sneakers 49.66%, Coat 49.07%, Sweater 48.17%, Pants 47.37%.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521988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 discounting selectively where it expands demand, then protect margin on products that already convert.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13979" y="6451898"/>
            <a:ext cx="37771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PRODUCT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Product signals point to clear campaign candidates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15821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Pair proof of satisfaction with proof of demand in merchandising and campaign creative.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81400"/>
            <a:ext cx="5714857" cy="3238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28" y="4194572"/>
            <a:ext cx="53338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TOP-RATED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7828" y="4601686"/>
            <a:ext cx="47242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Gloves 3.86 · Sandals 3.84 · Boots 3.82 · Hat 3.80 · Skirt 3.78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7828" y="5422305"/>
            <a:ext cx="53338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 SELLERS BY CATEGORY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7828" y="5829419"/>
            <a:ext cx="533386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Jewelry · Blouse · Sandals · Jacket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SERVICE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Small service differences can reinforce the purchase decision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Express-shipping users are a natural audience for convenience-led messaging and premium fulfillment tests.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49773"/>
          <a:ext cx="10972526" cy="914400"/>
        </p:xfrm>
        <a:graphic>
          <a:graphicData uri="http://schemas.openxmlformats.org/drawingml/2006/table">
            <a:tbl>
              <a:tblPr/>
              <a:tblGrid>
                <a:gridCol w="3950097"/>
                <a:gridCol w="2633398"/>
                <a:gridCol w="4389030"/>
              </a:tblGrid>
              <a:tr h="559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SHIPPING OPTION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AVERAGE PURCHASE AMOUNT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WHAT IT SUGGESTS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Express shipping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spc="-24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$60.48</a:t>
                      </a:r>
                      <a:endParaRPr lang="en-US" sz="2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Convenience may support a slightly higher purchase amount.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Standard shipping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spc="-24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$58.46</a:t>
                      </a:r>
                      <a:endParaRPr lang="en-US" sz="2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Use as the comparison point for premium fulfillment tests.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808919" y="6451898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FROM ANALYSIS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Five moves turn the analysis into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0972526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Build a subscription offer around exclusive benefits and test uptake among repeat buyers.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Create loyalty rewards that move Returning customers toward Loyal status.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Rebalance discounting around products with the highest discount dependence.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Feature top-rated, high-volume products in targeted campaigns.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Prioritize Young Adult and convenience-oriented segments in acquisition and retention tests.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838386" y="6451898"/>
            <a:ext cx="353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2026-10-27T19:26:43Z</dcterms:created>
  <dcterms:modified xsi:type="dcterms:W3CDTF">2026-10-27T19:26:43Z</dcterms:modified>
</cp:coreProperties>
</file>